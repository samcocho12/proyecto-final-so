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Raleway Medium" pitchFamily="2" charset="0"/>
      <p:regular r:id="rId16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947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272B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1657052"/>
            <a:ext cx="4634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Simulación de Gestión de Memoria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40023" y="2745730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Ingeniería de Software — Sistemas Operativos</a:t>
            </a:r>
            <a:endParaRPr lang="en-US" sz="12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Universidad Cooperativa de Colombia</a:t>
            </a:r>
            <a:endParaRPr lang="en-US" sz="12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Mayo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08050"/>
            <a:ext cx="80639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La Gestión de Memoria: Componente Crítico del 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935584"/>
            <a:ext cx="4687788" cy="1234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Los sistemas operativos funcionan como intermediarios entre usuarios, aplicaciones y hardware, administrando recursos críticos del sistema. La gestión de memoria ocupa un papel fundamental al controlar la memoria RAM, uno de los recursos más limitados y compartidos.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0023" y="3308970"/>
            <a:ext cx="4687788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Cada programa que se ejecuta necesita espacio en memoria para funcionar, almacenar información temporal y realizar operaciones. Una administración inadecuada puede provocar errores, lentitud, bloqueos o fallos completos del sistema.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960" y="2266206"/>
            <a:ext cx="2999705" cy="16997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759396"/>
            <a:ext cx="403391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Propósito del Proyecto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0023" y="1496616"/>
            <a:ext cx="2585145" cy="2220144"/>
          </a:xfrm>
          <a:prstGeom prst="roundRect">
            <a:avLst>
              <a:gd name="adj" fmla="val 10425"/>
            </a:avLst>
          </a:prstGeom>
          <a:solidFill>
            <a:srgbClr val="46464A"/>
          </a:solidFill>
          <a:ln/>
        </p:spPr>
      </p:sp>
      <p:sp>
        <p:nvSpPr>
          <p:cNvPr id="4" name="Shape 2"/>
          <p:cNvSpPr/>
          <p:nvPr/>
        </p:nvSpPr>
        <p:spPr>
          <a:xfrm>
            <a:off x="694283" y="1650876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531" y="1778124"/>
            <a:ext cx="208285" cy="2082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4283" y="2267992"/>
            <a:ext cx="201357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Simulación Interactiva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94283" y="2574875"/>
            <a:ext cx="2276624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Representación visual y funcional de la asignación, administración y liberación de memoria para procesos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79428" y="1496616"/>
            <a:ext cx="2585145" cy="2220144"/>
          </a:xfrm>
          <a:prstGeom prst="roundRect">
            <a:avLst>
              <a:gd name="adj" fmla="val 10425"/>
            </a:avLst>
          </a:prstGeom>
          <a:solidFill>
            <a:srgbClr val="46464A"/>
          </a:solidFill>
          <a:ln/>
        </p:spPr>
      </p:sp>
      <p:sp>
        <p:nvSpPr>
          <p:cNvPr id="9" name="Shape 6"/>
          <p:cNvSpPr/>
          <p:nvPr/>
        </p:nvSpPr>
        <p:spPr>
          <a:xfrm>
            <a:off x="3433688" y="1650876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0936" y="1778124"/>
            <a:ext cx="208285" cy="2082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33688" y="2267992"/>
            <a:ext cx="17740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Algoritmos Clásicos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33688" y="2574875"/>
            <a:ext cx="227662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Implementación de First Fit, Best Fit y Worst Fit para análisis comparativo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18833" y="1496616"/>
            <a:ext cx="2585145" cy="2220144"/>
          </a:xfrm>
          <a:prstGeom prst="roundRect">
            <a:avLst>
              <a:gd name="adj" fmla="val 10425"/>
            </a:avLst>
          </a:prstGeom>
          <a:solidFill>
            <a:srgbClr val="46464A"/>
          </a:solidFill>
          <a:ln/>
        </p:spPr>
      </p:sp>
      <p:sp>
        <p:nvSpPr>
          <p:cNvPr id="14" name="Shape 10"/>
          <p:cNvSpPr/>
          <p:nvPr/>
        </p:nvSpPr>
        <p:spPr>
          <a:xfrm>
            <a:off x="6173093" y="1650876"/>
            <a:ext cx="462855" cy="462855"/>
          </a:xfrm>
          <a:prstGeom prst="roundRect">
            <a:avLst>
              <a:gd name="adj" fmla="val 12346045"/>
            </a:avLst>
          </a:prstGeom>
          <a:solidFill>
            <a:srgbClr val="FFE14D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0341" y="1778124"/>
            <a:ext cx="208285" cy="2082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3093" y="2267992"/>
            <a:ext cx="227662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Análisis de Comportamiento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3093" y="2789188"/>
            <a:ext cx="227662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Estudio de eficiencia, fragmentación y efectos sobre el rendimiento del sistema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0023" y="3890293"/>
            <a:ext cx="8063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 proyecto fortaleció habilidades técnicas y analíticas en administración de recursos, optimización de memoria, diseño lógico de sistemas y análisis de algoritmos.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6313" y="402208"/>
            <a:ext cx="4702373" cy="80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¿Por qué Gestión de Memoria?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06313" y="1409254"/>
            <a:ext cx="325487" cy="325487"/>
          </a:xfrm>
          <a:prstGeom prst="roundRect">
            <a:avLst>
              <a:gd name="adj" fmla="val 66667"/>
            </a:avLst>
          </a:prstGeom>
          <a:solidFill>
            <a:srgbClr val="46464A"/>
          </a:solidFill>
          <a:ln/>
        </p:spPr>
      </p:sp>
      <p:sp>
        <p:nvSpPr>
          <p:cNvPr id="5" name="Text 2"/>
          <p:cNvSpPr/>
          <p:nvPr/>
        </p:nvSpPr>
        <p:spPr>
          <a:xfrm>
            <a:off x="572616" y="1451446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7383" y="1458962"/>
            <a:ext cx="1999729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Comportamiento Visual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67383" y="1741215"/>
            <a:ext cx="4241304" cy="448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Representación gráfica clara de bloques ocupados, espacios libres, fragmentación y asignaciones dinámicas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6313" y="2460873"/>
            <a:ext cx="325487" cy="325487"/>
          </a:xfrm>
          <a:prstGeom prst="roundRect">
            <a:avLst>
              <a:gd name="adj" fmla="val 66667"/>
            </a:avLst>
          </a:prstGeom>
          <a:solidFill>
            <a:srgbClr val="46464A"/>
          </a:solidFill>
          <a:ln/>
        </p:spPr>
      </p:sp>
      <p:sp>
        <p:nvSpPr>
          <p:cNvPr id="9" name="Text 6"/>
          <p:cNvSpPr/>
          <p:nvPr/>
        </p:nvSpPr>
        <p:spPr>
          <a:xfrm>
            <a:off x="572616" y="2503066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7383" y="2510582"/>
            <a:ext cx="1851050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Diferencias Marcadas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7383" y="2792834"/>
            <a:ext cx="424130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Comparación real entre velocidad de asignación, aprovechamiento de espacio, nivel de fragmentación y rendimiento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6313" y="3736702"/>
            <a:ext cx="325487" cy="325487"/>
          </a:xfrm>
          <a:prstGeom prst="roundRect">
            <a:avLst>
              <a:gd name="adj" fmla="val 66667"/>
            </a:avLst>
          </a:prstGeom>
          <a:solidFill>
            <a:srgbClr val="46464A"/>
          </a:solidFill>
          <a:ln/>
        </p:spPr>
      </p:sp>
      <p:sp>
        <p:nvSpPr>
          <p:cNvPr id="13" name="Text 10"/>
          <p:cNvSpPr/>
          <p:nvPr/>
        </p:nvSpPr>
        <p:spPr>
          <a:xfrm>
            <a:off x="572616" y="3778895"/>
            <a:ext cx="1928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7383" y="3786411"/>
            <a:ext cx="1633240" cy="200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Aplicación Práctica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7383" y="4068663"/>
            <a:ext cx="4241304" cy="672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Integración de múltiples conceptos: gestión de recursos, administración de procesos, optimización y estructuras dinámicas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529" y="430485"/>
            <a:ext cx="5365924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First Fit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72529" y="1100807"/>
            <a:ext cx="2394124" cy="224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Primer Bloque Disponible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2529" y="1443856"/>
            <a:ext cx="4361185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Asigna el proceso al primer bloque libre con suficiente espacio disponible.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2529" y="1966913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Características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2529" y="2272531"/>
            <a:ext cx="4361185" cy="933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Alta velocidad de asignación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No recorre toda la memoria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Puede generar fragmentación inicial</a:t>
            </a:r>
            <a:endParaRPr lang="en-US" sz="10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Comportamiento equilibrado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833" y="1121122"/>
            <a:ext cx="3508325" cy="19880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2529" y="3448050"/>
            <a:ext cx="4025652" cy="44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45%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1735262" y="4049613"/>
            <a:ext cx="1500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Uso de Memoria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72529" y="4307979"/>
            <a:ext cx="4025652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Porcentaje de memoria ocupada después de múltiples asignaciones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645819" y="3448050"/>
            <a:ext cx="4025652" cy="44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0%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5729734" y="4049613"/>
            <a:ext cx="1857747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Fragmentación Externa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645819" y="4307979"/>
            <a:ext cx="4025652" cy="202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0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Sin fragmentación detectada en estado inicial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121" y="447005"/>
            <a:ext cx="4786759" cy="73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Best Fit</a:t>
            </a:r>
            <a:endParaRPr lang="en-US" sz="2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21" y="1354634"/>
            <a:ext cx="663029" cy="912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41078" y="1487239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Búsqueda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1241078" y="1739726"/>
            <a:ext cx="4009802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Encuentra el bloque libre más pequeño posible que contenga el proceso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21" y="2266727"/>
            <a:ext cx="663029" cy="7956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41078" y="2399333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Minimización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1241078" y="2651820"/>
            <a:ext cx="400980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Reduce desperdicio inmediato de memoria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121" y="3062362"/>
            <a:ext cx="663029" cy="7956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1078" y="3194968"/>
            <a:ext cx="1473398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Consecuencia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1241078" y="3447455"/>
            <a:ext cx="4009802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Genera fragmentos pequeños difíciles de reutilizar</a:t>
            </a:r>
            <a:endParaRPr lang="en-US" sz="1000" dirty="0"/>
          </a:p>
        </p:txBody>
      </p:sp>
      <p:sp>
        <p:nvSpPr>
          <p:cNvPr id="13" name="Shape 7"/>
          <p:cNvSpPr/>
          <p:nvPr/>
        </p:nvSpPr>
        <p:spPr>
          <a:xfrm>
            <a:off x="464121" y="3986138"/>
            <a:ext cx="4786759" cy="710282"/>
          </a:xfrm>
          <a:prstGeom prst="roundRect">
            <a:avLst>
              <a:gd name="adj" fmla="val 28004"/>
            </a:avLst>
          </a:prstGeom>
          <a:solidFill>
            <a:srgbClr val="4B3F0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726" y="4178647"/>
            <a:ext cx="165720" cy="1326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5052" y="4133180"/>
            <a:ext cx="4223221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Aunque</a:t>
            </a:r>
            <a:r>
              <a:rPr lang="en-US" sz="10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inicialmente parece más eficiente, a largo plazo aumenta considerablemente la fragmentación externa.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131" y="441573"/>
            <a:ext cx="4668738" cy="830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 Worst Fit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15528" y="1489249"/>
            <a:ext cx="2367260" cy="2578894"/>
          </a:xfrm>
          <a:prstGeom prst="roundRect">
            <a:avLst>
              <a:gd name="adj" fmla="val 15155"/>
            </a:avLst>
          </a:prstGeom>
          <a:solidFill>
            <a:srgbClr val="FFE14D"/>
          </a:solidFill>
          <a:ln/>
        </p:spPr>
      </p:sp>
      <p:sp>
        <p:nvSpPr>
          <p:cNvPr id="5" name="Text 2"/>
          <p:cNvSpPr/>
          <p:nvPr/>
        </p:nvSpPr>
        <p:spPr>
          <a:xfrm>
            <a:off x="564952" y="1634058"/>
            <a:ext cx="2065362" cy="249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Bloque Más Grande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64952" y="2027932"/>
            <a:ext cx="2068413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Selecciona el bloque libre más grande disponible para la asignación.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4952" y="2879080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Lógica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4952" y="3231505"/>
            <a:ext cx="2068413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Conservar bloques medianos mientras utiliza primero los espacios más grandes.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936974" y="1489249"/>
            <a:ext cx="2367260" cy="2578894"/>
          </a:xfrm>
          <a:prstGeom prst="roundRect">
            <a:avLst>
              <a:gd name="adj" fmla="val 15155"/>
            </a:avLst>
          </a:prstGeom>
          <a:solidFill>
            <a:srgbClr val="FFE14D"/>
          </a:solidFill>
          <a:ln/>
        </p:spPr>
      </p:sp>
      <p:sp>
        <p:nvSpPr>
          <p:cNvPr id="10" name="Text 7"/>
          <p:cNvSpPr/>
          <p:nvPr/>
        </p:nvSpPr>
        <p:spPr>
          <a:xfrm>
            <a:off x="3086398" y="1634058"/>
            <a:ext cx="2068413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Resultados Observados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86398" y="2194099"/>
            <a:ext cx="2068413" cy="117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Consume rápidamente bloques grandes, reduciendo capacidad para atender procesos de mayor tamaño posteriormente.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23131" y="4231035"/>
            <a:ext cx="4668738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Este algoritmo presentó comportamiento menos eficiente en pruebas prolongadas, afectando la organización de la memoria.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388" y="394469"/>
            <a:ext cx="5189041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Resultados y Observaciones Clave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063675" y="1822028"/>
            <a:ext cx="1601391" cy="325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75%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83" y="1008311"/>
            <a:ext cx="1952923" cy="19529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140" y="3103587"/>
            <a:ext cx="14466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Uso Máximo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9388" y="3350270"/>
            <a:ext cx="2570187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Porcentaje de memoria ocupada en condiciones de carga alta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71156" y="1822028"/>
            <a:ext cx="1601391" cy="325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50%</a:t>
            </a:r>
            <a:endParaRPr lang="en-US" sz="2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5464" y="1008311"/>
            <a:ext cx="1952923" cy="19529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8621" y="3103587"/>
            <a:ext cx="14466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Eficiencia First Fit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286869" y="3350270"/>
            <a:ext cx="2570187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Balance óptimo entre velocidad y aprovechamiento de espacio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78712" y="1822028"/>
            <a:ext cx="1601391" cy="325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25%</a:t>
            </a:r>
            <a:endParaRPr lang="en-US" sz="2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020" y="1008311"/>
            <a:ext cx="1952923" cy="19529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56177" y="3103587"/>
            <a:ext cx="144660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Fragmentación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994350" y="3350270"/>
            <a:ext cx="2570262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Incremento de fragmentación externa con Best Fit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79388" y="3857923"/>
            <a:ext cx="2588493" cy="891108"/>
          </a:xfrm>
          <a:prstGeom prst="roundRect">
            <a:avLst>
              <a:gd name="adj" fmla="val 21916"/>
            </a:avLst>
          </a:prstGeom>
          <a:solidFill>
            <a:srgbClr val="46464A"/>
          </a:solidFill>
          <a:ln/>
        </p:spPr>
      </p:sp>
      <p:sp>
        <p:nvSpPr>
          <p:cNvPr id="16" name="Text 11"/>
          <p:cNvSpPr/>
          <p:nvPr/>
        </p:nvSpPr>
        <p:spPr>
          <a:xfrm>
            <a:off x="709538" y="3988073"/>
            <a:ext cx="1539701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First Fit: Más Rápido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09538" y="4234755"/>
            <a:ext cx="232819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Comportamiento equilibrado en la mayoría de casos de prueba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77716" y="3857923"/>
            <a:ext cx="2588493" cy="891108"/>
          </a:xfrm>
          <a:prstGeom prst="roundRect">
            <a:avLst>
              <a:gd name="adj" fmla="val 21916"/>
            </a:avLst>
          </a:prstGeom>
          <a:solidFill>
            <a:srgbClr val="46464A"/>
          </a:solidFill>
          <a:ln/>
        </p:spPr>
      </p:sp>
      <p:sp>
        <p:nvSpPr>
          <p:cNvPr id="19" name="Text 14"/>
          <p:cNvSpPr/>
          <p:nvPr/>
        </p:nvSpPr>
        <p:spPr>
          <a:xfrm>
            <a:off x="3407866" y="3988073"/>
            <a:ext cx="2152650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Best Fit: Más Fragmentación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407866" y="4234755"/>
            <a:ext cx="2328193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Aprovecha espacios pequeños pero genera fragmentación progresiva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976045" y="3857923"/>
            <a:ext cx="2588568" cy="891108"/>
          </a:xfrm>
          <a:prstGeom prst="roundRect">
            <a:avLst>
              <a:gd name="adj" fmla="val 21916"/>
            </a:avLst>
          </a:prstGeom>
          <a:solidFill>
            <a:srgbClr val="46464A"/>
          </a:solidFill>
          <a:ln/>
        </p:spPr>
      </p:sp>
      <p:sp>
        <p:nvSpPr>
          <p:cNvPr id="22" name="Text 17"/>
          <p:cNvSpPr/>
          <p:nvPr/>
        </p:nvSpPr>
        <p:spPr>
          <a:xfrm>
            <a:off x="6106195" y="3988073"/>
            <a:ext cx="1942579" cy="180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Worst Fit: Menos Eficiente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106195" y="4234755"/>
            <a:ext cx="2328267" cy="384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Utiliza bloques grandes rápidamente, afectando organización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0337" y="344016"/>
            <a:ext cx="4854327" cy="683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Conclusiones y Reflexión Profesional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430337" y="1066279"/>
            <a:ext cx="2486918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Aprendizajes Fundamentales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30337" y="1418109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30337" y="1612776"/>
            <a:ext cx="2378199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7" name="Text 4"/>
          <p:cNvSpPr/>
          <p:nvPr/>
        </p:nvSpPr>
        <p:spPr>
          <a:xfrm>
            <a:off x="430337" y="1702817"/>
            <a:ext cx="1475036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Decisión Estratégica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30337" y="1932384"/>
            <a:ext cx="2378199" cy="52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La administración de memoria requiere decisiones que afectan rendimiento, estabilidad y eficiencia del sistema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06464" y="1418109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906464" y="1612776"/>
            <a:ext cx="2378199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1" name="Text 8"/>
          <p:cNvSpPr/>
          <p:nvPr/>
        </p:nvSpPr>
        <p:spPr>
          <a:xfrm>
            <a:off x="2906464" y="1702817"/>
            <a:ext cx="169091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Fragmentación Externa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906464" y="1932384"/>
            <a:ext cx="2378199" cy="52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Deteriora progresivamente el rendimiento aunque exista espacio libre disponible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0337" y="2652489"/>
            <a:ext cx="245864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Comfortaa Light" pitchFamily="34" charset="0"/>
                <a:ea typeface="Comfortaa Light" pitchFamily="34" charset="-122"/>
                <a:cs typeface="Comforta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0337" y="2847156"/>
            <a:ext cx="4854327" cy="14288"/>
          </a:xfrm>
          <a:prstGeom prst="rect">
            <a:avLst/>
          </a:prstGeom>
          <a:solidFill>
            <a:srgbClr val="FFE14D"/>
          </a:solidFill>
          <a:ln/>
        </p:spPr>
      </p:sp>
      <p:sp>
        <p:nvSpPr>
          <p:cNvPr id="15" name="Text 12"/>
          <p:cNvSpPr/>
          <p:nvPr/>
        </p:nvSpPr>
        <p:spPr>
          <a:xfrm>
            <a:off x="430337" y="2937197"/>
            <a:ext cx="1685181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Representación Gráfica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30337" y="3166765"/>
            <a:ext cx="4854327" cy="176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Facilita comprensión de conceptos abstractos estudiados teóricamente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0337" y="3545830"/>
            <a:ext cx="4854327" cy="1253654"/>
          </a:xfrm>
          <a:prstGeom prst="roundRect">
            <a:avLst>
              <a:gd name="adj" fmla="val 14712"/>
            </a:avLst>
          </a:prstGeom>
          <a:solidFill>
            <a:srgbClr val="022349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69" y="3678734"/>
            <a:ext cx="170780" cy="136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6981" y="3674492"/>
            <a:ext cx="2040657" cy="17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Responsabilidad Profesional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46981" y="3943201"/>
            <a:ext cx="4314751" cy="706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El diseño de sistemas que gestionan recursos compartidos implica responsabilidad sobre el rendimiento, estabilidad y experiencia de múltiples usuarios. Cada decisión técnica tiene consecuencias reales que impactan aplicaciones críticas y usuarios finales.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572</Words>
  <Application>Microsoft Office PowerPoint</Application>
  <PresentationFormat>Presentación en pantalla (16:9)</PresentationFormat>
  <Paragraphs>93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Calibri</vt:lpstr>
      <vt:lpstr>Raleway Medium</vt:lpstr>
      <vt:lpstr>Arial</vt:lpstr>
      <vt:lpstr>Comfortaa Bold</vt:lpstr>
      <vt:lpstr>Comfortaa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Jorge Mario Prado Medina</cp:lastModifiedBy>
  <cp:revision>2</cp:revision>
  <dcterms:created xsi:type="dcterms:W3CDTF">2026-05-12T01:46:01Z</dcterms:created>
  <dcterms:modified xsi:type="dcterms:W3CDTF">2026-05-12T13:36:43Z</dcterms:modified>
</cp:coreProperties>
</file>